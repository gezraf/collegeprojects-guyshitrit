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2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1"/>
    <p:sldMasterId id="2147483682" r:id="rId2"/>
    <p:sldMasterId id="2147483704" r:id="rId3"/>
  </p:sldMasterIdLst>
  <p:notesMasterIdLst>
    <p:notesMasterId r:id="rId14"/>
  </p:notesMasterIdLst>
  <p:sldIdLst>
    <p:sldId id="256" r:id="rId4"/>
    <p:sldId id="258" r:id="rId5"/>
    <p:sldId id="257" r:id="rId6"/>
    <p:sldId id="259" r:id="rId7"/>
    <p:sldId id="260" r:id="rId8"/>
    <p:sldId id="261" r:id="rId9"/>
    <p:sldId id="262" r:id="rId10"/>
    <p:sldId id="264" r:id="rId11"/>
    <p:sldId id="265" r:id="rId12"/>
    <p:sldId id="267" r:id="rId13"/>
  </p:sldIdLst>
  <p:sldSz cx="9144000" cy="5143500" type="screen16x9"/>
  <p:notesSz cx="5143500" cy="9144000"/>
  <p:embeddedFontLst>
    <p:embeddedFont>
      <p:font typeface="Open Sans" panose="020B0606030504020204" pitchFamily="34" charset="0"/>
      <p:regular r:id="rId15"/>
      <p:bold r:id="rId16"/>
      <p:italic r:id="rId17"/>
      <p:boldItalic r:id="rId18"/>
    </p:embeddedFont>
    <p:embeddedFont>
      <p:font typeface="Playfair Display Bold" pitchFamily="2" charset="0"/>
      <p:bold r:id="rId19"/>
    </p:embeddedFont>
    <p:embeddedFont>
      <p:font typeface="Wingdings 2" panose="05020102010507070707" pitchFamily="18" charset="2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66B1FD5-0A01-045F-027D-83FECA48E50B}" name="Anrieta Levi" initials="AL" userId="S::anriele@sce.ac.il::1e03869c-8ff5-4a36-a981-4df294fbb62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5C5C"/>
    <a:srgbClr val="333333"/>
    <a:srgbClr val="5F5F5F"/>
    <a:srgbClr val="808080"/>
    <a:srgbClr val="F3F3F7"/>
    <a:srgbClr val="E0E0EC"/>
    <a:srgbClr val="000000"/>
    <a:srgbClr val="FFABAD"/>
    <a:srgbClr val="FF7D80"/>
    <a:srgbClr val="FFD5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4" d="100"/>
          <a:sy n="84" d="100"/>
        </p:scale>
        <p:origin x="436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font" Target="fonts/font4.fntdata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font" Target="fonts/font3.fntdata"/><Relationship Id="rId25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font" Target="fonts/font5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0285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3398"/>
            <a:ext cx="6858000" cy="1790700"/>
          </a:xfrm>
        </p:spPr>
        <p:txBody>
          <a:bodyPr anchor="b">
            <a:normAutofit/>
          </a:bodyPr>
          <a:lstStyle>
            <a:lvl1pPr algn="ctr">
              <a:defRPr sz="45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24893-DBDA-4BFA-9CE1-4BFE7CD0F8CF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88106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D3E9E-A95C-48F2-B4BF-A71542E0BE9A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648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4317"/>
            <a:ext cx="7886700" cy="2138406"/>
          </a:xfrm>
        </p:spPr>
        <p:txBody>
          <a:bodyPr anchor="b">
            <a:normAutofit/>
          </a:bodyPr>
          <a:lstStyle>
            <a:lvl1pPr>
              <a:defRPr sz="45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14475"/>
            <a:ext cx="7886700" cy="1125140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F84E2-2D7A-43CF-AC90-352A289A783A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59441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3845" y="1371600"/>
            <a:ext cx="3886200" cy="3263503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71600"/>
            <a:ext cx="3886200" cy="3263503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952B5-7A2F-4CC8-B7CE-9234E21C2837}" type="datetime1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8178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261388"/>
            <a:ext cx="3867150" cy="619274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45" y="1880663"/>
            <a:ext cx="3867150" cy="2760394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1388"/>
            <a:ext cx="3886201" cy="619274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80663"/>
            <a:ext cx="3886201" cy="2760394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DA07A-9201-4B4B-BAF2-015AFA30F520}" type="datetime1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05104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7E00A-486F-4252-8B1D-E32645521F49}" type="datetime1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31132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5F92-E675-4B36-9A60-69A962A68675}" type="datetime1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49624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48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49"/>
            <a:ext cx="2948940" cy="28575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6E2C9B-5FA2-460D-9BE7-B0812FC2A6FF}" type="datetime1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03110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5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50"/>
            <a:ext cx="2948940" cy="28575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74940-A916-4C8B-9648-02A2D3898F9E}" type="datetime1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72872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E5243-F52A-4D37-9694-EB26C6C31910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8043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0271"/>
            <a:ext cx="1971675" cy="4358879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0272"/>
            <a:ext cx="5800725" cy="435887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7B6E1-634A-48DC-9E8B-D894023267EF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87272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39546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2748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88171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81946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0704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38061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00324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41839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1452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8406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3398"/>
            <a:ext cx="6858000" cy="1790700"/>
          </a:xfrm>
        </p:spPr>
        <p:txBody>
          <a:bodyPr anchor="b">
            <a:normAutofit/>
          </a:bodyPr>
          <a:lstStyle>
            <a:lvl1pPr algn="ctr">
              <a:defRPr sz="45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24893-DBDA-4BFA-9CE1-4BFE7CD0F8CF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344004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D3E9E-A95C-48F2-B4BF-A71542E0BE9A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464648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4317"/>
            <a:ext cx="7886700" cy="2138406"/>
          </a:xfrm>
        </p:spPr>
        <p:txBody>
          <a:bodyPr anchor="b">
            <a:normAutofit/>
          </a:bodyPr>
          <a:lstStyle>
            <a:lvl1pPr>
              <a:defRPr sz="45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14475"/>
            <a:ext cx="7886700" cy="1125140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F84E2-2D7A-43CF-AC90-352A289A783A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95580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3845" y="1371600"/>
            <a:ext cx="3886200" cy="3263503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71600"/>
            <a:ext cx="3886200" cy="3263503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952B5-7A2F-4CC8-B7CE-9234E21C2837}" type="datetime1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438566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261388"/>
            <a:ext cx="3867150" cy="619274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45" y="1880663"/>
            <a:ext cx="3867150" cy="2760394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1388"/>
            <a:ext cx="3886201" cy="619274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80663"/>
            <a:ext cx="3886201" cy="2760394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DA07A-9201-4B4B-BAF2-015AFA30F520}" type="datetime1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3997841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7E00A-486F-4252-8B1D-E32645521F49}" type="datetime1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341748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5F92-E675-4B36-9A60-69A962A68675}" type="datetime1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318663"/>
      </p:ext>
    </p:extLst>
  </p:cSld>
  <p:clrMapOvr>
    <a:masterClrMapping/>
  </p:clrMapOvr>
  <p:hf sldNum="0"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48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49"/>
            <a:ext cx="2948940" cy="28575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6E2C9B-5FA2-460D-9BE7-B0812FC2A6FF}" type="datetime1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308374"/>
      </p:ext>
    </p:extLst>
  </p:cSld>
  <p:clrMapOvr>
    <a:masterClrMapping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5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50"/>
            <a:ext cx="2948940" cy="28575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74940-A916-4C8B-9648-02A2D3898F9E}" type="datetime1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420141"/>
      </p:ext>
    </p:extLst>
  </p:cSld>
  <p:clrMapOvr>
    <a:masterClrMapping/>
  </p:clrMapOvr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E5243-F52A-4D37-9694-EB26C6C31910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760454"/>
      </p:ext>
    </p:extLst>
  </p:cSld>
  <p:clrMapOvr>
    <a:masterClrMapping/>
  </p:clrMapOvr>
  <p:hf sldNum="0"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0271"/>
            <a:ext cx="1971675" cy="4358879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0272"/>
            <a:ext cx="5800725" cy="435887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7B6E1-634A-48DC-9E8B-D894023267EF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912123"/>
      </p:ext>
    </p:extLst>
  </p:cSld>
  <p:clrMapOvr>
    <a:masterClrMapping/>
  </p:clrMapOvr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1131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542693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537821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577822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331865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67855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081952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923538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761739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864462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3398"/>
            <a:ext cx="6858000" cy="1790700"/>
          </a:xfrm>
        </p:spPr>
        <p:txBody>
          <a:bodyPr anchor="b">
            <a:normAutofit/>
          </a:bodyPr>
          <a:lstStyle>
            <a:lvl1pPr algn="ctr">
              <a:defRPr sz="45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24893-DBDA-4BFA-9CE1-4BFE7CD0F8CF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076847"/>
      </p:ext>
    </p:extLst>
  </p:cSld>
  <p:clrMapOvr>
    <a:masterClrMapping/>
  </p:clrMapOvr>
  <p:hf sldNum="0" hdr="0" ftr="0" dt="0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D3E9E-A95C-48F2-B4BF-A71542E0BE9A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331225"/>
      </p:ext>
    </p:extLst>
  </p:cSld>
  <p:clrMapOvr>
    <a:masterClrMapping/>
  </p:clrMapOvr>
  <p:hf sldNum="0" hdr="0" ft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4317"/>
            <a:ext cx="7886700" cy="2138406"/>
          </a:xfrm>
        </p:spPr>
        <p:txBody>
          <a:bodyPr anchor="b">
            <a:normAutofit/>
          </a:bodyPr>
          <a:lstStyle>
            <a:lvl1pPr>
              <a:defRPr sz="45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14475"/>
            <a:ext cx="7886700" cy="1125140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F84E2-2D7A-43CF-AC90-352A289A783A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929727"/>
      </p:ext>
    </p:extLst>
  </p:cSld>
  <p:clrMapOvr>
    <a:masterClrMapping/>
  </p:clrMapOvr>
  <p:hf sldNum="0" hdr="0" ft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3845" y="1371600"/>
            <a:ext cx="3886200" cy="3263503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71600"/>
            <a:ext cx="3886200" cy="3263503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952B5-7A2F-4CC8-B7CE-9234E21C2837}" type="datetime1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74791"/>
      </p:ext>
    </p:extLst>
  </p:cSld>
  <p:clrMapOvr>
    <a:masterClrMapping/>
  </p:clrMapOvr>
  <p:hf sldNum="0" hdr="0" ft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261388"/>
            <a:ext cx="3867150" cy="619274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45" y="1880663"/>
            <a:ext cx="3867150" cy="2760394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1388"/>
            <a:ext cx="3886201" cy="619274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80663"/>
            <a:ext cx="3886201" cy="2760394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DA07A-9201-4B4B-BAF2-015AFA30F520}" type="datetime1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948074"/>
      </p:ext>
    </p:extLst>
  </p:cSld>
  <p:clrMapOvr>
    <a:masterClrMapping/>
  </p:clrMapOvr>
  <p:hf sldNum="0" hdr="0" ft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7E00A-486F-4252-8B1D-E32645521F49}" type="datetime1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58753"/>
      </p:ext>
    </p:extLst>
  </p:cSld>
  <p:clrMapOvr>
    <a:masterClrMapping/>
  </p:clrMapOvr>
  <p:hf sldNum="0" hdr="0" ft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5F92-E675-4B36-9A60-69A962A68675}" type="datetime1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968843"/>
      </p:ext>
    </p:extLst>
  </p:cSld>
  <p:clrMapOvr>
    <a:masterClrMapping/>
  </p:clrMapOvr>
  <p:hf sldNum="0" hdr="0" ft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48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49"/>
            <a:ext cx="2948940" cy="28575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6E2C9B-5FA2-460D-9BE7-B0812FC2A6FF}" type="datetime1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4811"/>
      </p:ext>
    </p:extLst>
  </p:cSld>
  <p:clrMapOvr>
    <a:masterClrMapping/>
  </p:clrMapOvr>
  <p:hf sldNum="0" hdr="0" ftr="0" dt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5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50"/>
            <a:ext cx="2948940" cy="28575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74940-A916-4C8B-9648-02A2D3898F9E}" type="datetime1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610818"/>
      </p:ext>
    </p:extLst>
  </p:cSld>
  <p:clrMapOvr>
    <a:masterClrMapping/>
  </p:clrMapOvr>
  <p:hf sldNum="0" hdr="0" ftr="0" dt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E5243-F52A-4D37-9694-EB26C6C31910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721334"/>
      </p:ext>
    </p:extLst>
  </p:cSld>
  <p:clrMapOvr>
    <a:masterClrMapping/>
  </p:clrMapOvr>
  <p:hf sldNum="0" hdr="0" ft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0271"/>
            <a:ext cx="1971675" cy="4358879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0272"/>
            <a:ext cx="5800725" cy="435887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7B6E1-634A-48DC-9E8B-D894023267EF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10890"/>
      </p:ext>
    </p:extLst>
  </p:cSld>
  <p:clrMapOvr>
    <a:masterClrMapping/>
  </p:clrMapOvr>
  <p:hf sldNum="0" hdr="0" ft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4375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925914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418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592559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533741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32036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670564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484535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9317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9.xml"/><Relationship Id="rId3" Type="http://schemas.openxmlformats.org/officeDocument/2006/relationships/slideLayout" Target="../slideLayouts/slideLayout24.xml"/><Relationship Id="rId21" Type="http://schemas.openxmlformats.org/officeDocument/2006/relationships/slideLayout" Target="../slideLayouts/slideLayout42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3.xml"/><Relationship Id="rId16" Type="http://schemas.openxmlformats.org/officeDocument/2006/relationships/slideLayout" Target="../slideLayouts/slideLayout37.xml"/><Relationship Id="rId20" Type="http://schemas.openxmlformats.org/officeDocument/2006/relationships/slideLayout" Target="../slideLayouts/slideLayout41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31.xml"/><Relationship Id="rId19" Type="http://schemas.openxmlformats.org/officeDocument/2006/relationships/slideLayout" Target="../slideLayouts/slideLayout40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5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0.xml"/><Relationship Id="rId13" Type="http://schemas.openxmlformats.org/officeDocument/2006/relationships/slideLayout" Target="../slideLayouts/slideLayout55.xml"/><Relationship Id="rId18" Type="http://schemas.openxmlformats.org/officeDocument/2006/relationships/slideLayout" Target="../slideLayouts/slideLayout60.xml"/><Relationship Id="rId3" Type="http://schemas.openxmlformats.org/officeDocument/2006/relationships/slideLayout" Target="../slideLayouts/slideLayout45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9.xml"/><Relationship Id="rId12" Type="http://schemas.openxmlformats.org/officeDocument/2006/relationships/slideLayout" Target="../slideLayouts/slideLayout54.xml"/><Relationship Id="rId17" Type="http://schemas.openxmlformats.org/officeDocument/2006/relationships/slideLayout" Target="../slideLayouts/slideLayout59.xml"/><Relationship Id="rId2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58.xml"/><Relationship Id="rId20" Type="http://schemas.openxmlformats.org/officeDocument/2006/relationships/slideLayout" Target="../slideLayouts/slideLayout62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11" Type="http://schemas.openxmlformats.org/officeDocument/2006/relationships/slideLayout" Target="../slideLayouts/slideLayout53.xml"/><Relationship Id="rId5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2.xml"/><Relationship Id="rId19" Type="http://schemas.openxmlformats.org/officeDocument/2006/relationships/slideLayout" Target="../slideLayouts/slideLayout61.xml"/><Relationship Id="rId4" Type="http://schemas.openxmlformats.org/officeDocument/2006/relationships/slideLayout" Target="../slideLayouts/slideLayout46.xml"/><Relationship Id="rId9" Type="http://schemas.openxmlformats.org/officeDocument/2006/relationships/slideLayout" Target="../slideLayouts/slideLayout51.xml"/><Relationship Id="rId1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3845" y="274320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371600"/>
            <a:ext cx="788670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586B75A-687E-405C-8A0B-8D00578BA2C3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63145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914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</p:sldLayoutIdLst>
  <p:hf sldNum="0" hdr="0" ftr="0" dt="0"/>
  <p:txStyles>
    <p:titleStyle>
      <a:lvl1pPr algn="l" defTabSz="685800" rtl="1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r" defTabSz="685800" rtl="1" eaLnBrk="1" latinLnBrk="0" hangingPunct="1">
        <a:lnSpc>
          <a:spcPct val="90000"/>
        </a:lnSpc>
        <a:spcBef>
          <a:spcPts val="750"/>
        </a:spcBef>
        <a:buFont typeface="Wingdings 2" pitchFamily="18" charset="2"/>
        <a:buChar char="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r" defTabSz="685800" rtl="1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r" defTabSz="685800" rtl="1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r" defTabSz="685800" rtl="1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r" defTabSz="685800" rtl="1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r" defTabSz="685800" rtl="1" eaLnBrk="1" latinLnBrk="0" hangingPunct="1">
        <a:spcBef>
          <a:spcPct val="20000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r" defTabSz="685800" rtl="1" eaLnBrk="1" latinLnBrk="0" hangingPunct="1">
        <a:spcBef>
          <a:spcPct val="20000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r" defTabSz="685800" rtl="1" eaLnBrk="1" latinLnBrk="0" hangingPunct="1">
        <a:spcBef>
          <a:spcPct val="20000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r" defTabSz="685800" rtl="1" eaLnBrk="1" latinLnBrk="0" hangingPunct="1">
        <a:spcBef>
          <a:spcPct val="20000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3845" y="274320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371600"/>
            <a:ext cx="788670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586B75A-687E-405C-8A0B-8D00578BA2C3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63145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862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  <p:sldLayoutId id="2147483696" r:id="rId14"/>
    <p:sldLayoutId id="2147483697" r:id="rId15"/>
    <p:sldLayoutId id="2147483698" r:id="rId16"/>
    <p:sldLayoutId id="2147483699" r:id="rId17"/>
    <p:sldLayoutId id="2147483700" r:id="rId18"/>
    <p:sldLayoutId id="2147483701" r:id="rId19"/>
    <p:sldLayoutId id="2147483702" r:id="rId20"/>
    <p:sldLayoutId id="2147483703" r:id="rId21"/>
  </p:sldLayoutIdLst>
  <p:hf sldNum="0" hdr="0" ftr="0" dt="0"/>
  <p:txStyles>
    <p:titleStyle>
      <a:lvl1pPr algn="l" defTabSz="685800" rtl="1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r" defTabSz="685800" rtl="1" eaLnBrk="1" latinLnBrk="0" hangingPunct="1">
        <a:lnSpc>
          <a:spcPct val="90000"/>
        </a:lnSpc>
        <a:spcBef>
          <a:spcPts val="750"/>
        </a:spcBef>
        <a:buFont typeface="Wingdings 2" pitchFamily="18" charset="2"/>
        <a:buChar char="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r" defTabSz="685800" rtl="1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r" defTabSz="685800" rtl="1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r" defTabSz="685800" rtl="1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r" defTabSz="685800" rtl="1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r" defTabSz="685800" rtl="1" eaLnBrk="1" latinLnBrk="0" hangingPunct="1">
        <a:spcBef>
          <a:spcPct val="20000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r" defTabSz="685800" rtl="1" eaLnBrk="1" latinLnBrk="0" hangingPunct="1">
        <a:spcBef>
          <a:spcPct val="20000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r" defTabSz="685800" rtl="1" eaLnBrk="1" latinLnBrk="0" hangingPunct="1">
        <a:spcBef>
          <a:spcPct val="20000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r" defTabSz="685800" rtl="1" eaLnBrk="1" latinLnBrk="0" hangingPunct="1">
        <a:spcBef>
          <a:spcPct val="20000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3845" y="274320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371600"/>
            <a:ext cx="788670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586B75A-687E-405C-8A0B-8D00578BA2C3}" type="datetime1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63145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045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4" r:id="rId19"/>
    <p:sldLayoutId id="2147483725" r:id="rId20"/>
  </p:sldLayoutIdLst>
  <p:hf sldNum="0" hdr="0" ftr="0" dt="0"/>
  <p:txStyles>
    <p:titleStyle>
      <a:lvl1pPr algn="l" defTabSz="685800" rtl="1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r" defTabSz="685800" rtl="1" eaLnBrk="1" latinLnBrk="0" hangingPunct="1">
        <a:lnSpc>
          <a:spcPct val="90000"/>
        </a:lnSpc>
        <a:spcBef>
          <a:spcPts val="750"/>
        </a:spcBef>
        <a:buFont typeface="Wingdings 2" pitchFamily="18" charset="2"/>
        <a:buChar char="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r" defTabSz="685800" rtl="1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r" defTabSz="685800" rtl="1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r" defTabSz="685800" rtl="1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r" defTabSz="685800" rtl="1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r" defTabSz="685800" rtl="1" eaLnBrk="1" latinLnBrk="0" hangingPunct="1">
        <a:spcBef>
          <a:spcPct val="20000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r" defTabSz="685800" rtl="1" eaLnBrk="1" latinLnBrk="0" hangingPunct="1">
        <a:spcBef>
          <a:spcPct val="20000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r" defTabSz="685800" rtl="1" eaLnBrk="1" latinLnBrk="0" hangingPunct="1">
        <a:spcBef>
          <a:spcPct val="20000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r" defTabSz="685800" rtl="1" eaLnBrk="1" latinLnBrk="0" hangingPunct="1">
        <a:spcBef>
          <a:spcPct val="20000"/>
        </a:spcBef>
        <a:buFont typeface="Wingdings 2" pitchFamily="18" charset="2"/>
        <a:buChar char="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r" defTabSz="685800" rtl="1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4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6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5.xm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7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svg"/><Relationship Id="rId7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8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jpe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9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0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תמונה 9">
            <a:extLst>
              <a:ext uri="{FF2B5EF4-FFF2-40B4-BE49-F238E27FC236}">
                <a16:creationId xmlns:a16="http://schemas.microsoft.com/office/drawing/2014/main" id="{1EC66EDC-27C8-C038-2CDF-E37B7F4057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" r="562"/>
          <a:stretch/>
        </p:blipFill>
        <p:spPr>
          <a:xfrm>
            <a:off x="4572000" y="471542"/>
            <a:ext cx="4619488" cy="467195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1273381"/>
            <a:ext cx="4722763" cy="1328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101014"/>
                </a:solidFill>
                <a:latin typeface="Playfair Display Bold"/>
                <a:ea typeface="Playfair Display Bold"/>
                <a:cs typeface="Playfair Display Bold" pitchFamily="34" charset="-120"/>
              </a:rPr>
              <a:t>The Use of Deepfake Technology in Modern Cybersecurity Attacks</a:t>
            </a:r>
            <a:endParaRPr lang="en-US" sz="2750" dirty="0">
              <a:latin typeface="Playfair Display Bold"/>
              <a:ea typeface="Playfair Display Bold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CCA085F-A4F8-313F-0B60-6BCCDC518BC1}"/>
              </a:ext>
            </a:extLst>
          </p:cNvPr>
          <p:cNvSpPr txBox="1">
            <a:spLocks/>
          </p:cNvSpPr>
          <p:nvPr/>
        </p:nvSpPr>
        <p:spPr>
          <a:xfrm>
            <a:off x="450399" y="2910892"/>
            <a:ext cx="3457974" cy="2156434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ea typeface="Playfair Display Bold"/>
                <a:cs typeface="Times New Roman" panose="02020603050405020304" pitchFamily="18" charset="0"/>
              </a:rPr>
              <a:t>Name</a:t>
            </a:r>
            <a:r>
              <a:rPr lang="en-US" sz="1800" dirty="0">
                <a:latin typeface="Times New Roman" panose="02020603050405020304" pitchFamily="18" charset="0"/>
                <a:ea typeface="Playfair Display Bold"/>
                <a:cs typeface="Times New Roman" panose="02020603050405020304" pitchFamily="18" charset="0"/>
              </a:rPr>
              <a:t>: Guy Shitrit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ea typeface="Playfair Display Bold"/>
                <a:cs typeface="Times New Roman" panose="02020603050405020304" pitchFamily="18" charset="0"/>
              </a:rPr>
              <a:t>Department</a:t>
            </a:r>
            <a:r>
              <a:rPr lang="en-US" sz="1800" dirty="0">
                <a:latin typeface="Times New Roman" panose="02020603050405020304" pitchFamily="18" charset="0"/>
                <a:ea typeface="Playfair Display Bold"/>
                <a:cs typeface="Times New Roman" panose="02020603050405020304" pitchFamily="18" charset="0"/>
              </a:rPr>
              <a:t>: Software Engineering</a:t>
            </a:r>
            <a:endParaRPr lang="he-IL" sz="1800" dirty="0">
              <a:latin typeface="Times New Roman" panose="02020603050405020304" pitchFamily="18" charset="0"/>
              <a:ea typeface="Playfair Display Bold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ea typeface="Playfair Display Bold"/>
                <a:cs typeface="Times New Roman" panose="02020603050405020304" pitchFamily="18" charset="0"/>
              </a:rPr>
              <a:t>Course</a:t>
            </a:r>
            <a:r>
              <a:rPr lang="en-US" sz="1800" dirty="0">
                <a:latin typeface="Times New Roman" panose="02020603050405020304" pitchFamily="18" charset="0"/>
                <a:ea typeface="Playfair Display Bold"/>
                <a:cs typeface="Times New Roman" panose="02020603050405020304" pitchFamily="18" charset="0"/>
              </a:rPr>
              <a:t>: Advanced B</a:t>
            </a:r>
            <a:endParaRPr lang="he-IL" sz="1800" dirty="0">
              <a:latin typeface="Times New Roman" panose="02020603050405020304" pitchFamily="18" charset="0"/>
              <a:ea typeface="Playfair Display Bold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ea typeface="Playfair Display Bold"/>
                <a:cs typeface="Times New Roman" panose="02020603050405020304" pitchFamily="18" charset="0"/>
              </a:rPr>
              <a:t>Lecturer</a:t>
            </a:r>
            <a:r>
              <a:rPr lang="en-US" sz="1800" dirty="0">
                <a:latin typeface="Times New Roman" panose="02020603050405020304" pitchFamily="18" charset="0"/>
                <a:ea typeface="Playfair Display Bold"/>
                <a:cs typeface="Times New Roman" panose="02020603050405020304" pitchFamily="18" charset="0"/>
              </a:rPr>
              <a:t>: </a:t>
            </a:r>
            <a:r>
              <a:rPr lang="en-US" sz="1800" dirty="0" err="1">
                <a:latin typeface="Times New Roman" panose="02020603050405020304" pitchFamily="18" charset="0"/>
                <a:ea typeface="Playfair Display Bold"/>
                <a:cs typeface="Times New Roman" panose="02020603050405020304" pitchFamily="18" charset="0"/>
              </a:rPr>
              <a:t>Anrieta</a:t>
            </a:r>
            <a:r>
              <a:rPr lang="en-US" sz="1800" dirty="0">
                <a:latin typeface="Times New Roman" panose="02020603050405020304" pitchFamily="18" charset="0"/>
                <a:ea typeface="Playfair Display Bold"/>
                <a:cs typeface="Times New Roman" panose="02020603050405020304" pitchFamily="18" charset="0"/>
              </a:rPr>
              <a:t> Levi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ea typeface="Playfair Display Bold"/>
                <a:cs typeface="Times New Roman" panose="02020603050405020304" pitchFamily="18" charset="0"/>
              </a:rPr>
              <a:t>Date</a:t>
            </a:r>
            <a:r>
              <a:rPr lang="en-US" sz="1800" dirty="0">
                <a:latin typeface="Times New Roman" panose="02020603050405020304" pitchFamily="18" charset="0"/>
                <a:ea typeface="Playfair Display Bold"/>
                <a:cs typeface="Times New Roman" panose="02020603050405020304" pitchFamily="18" charset="0"/>
              </a:rPr>
              <a:t>: 2.6.26</a:t>
            </a:r>
          </a:p>
          <a:p>
            <a:endParaRPr lang="en-US" sz="500" dirty="0">
              <a:ea typeface="Playfair Display Bold"/>
            </a:endParaRPr>
          </a:p>
        </p:txBody>
      </p:sp>
      <p:pic>
        <p:nvPicPr>
          <p:cNvPr id="4" name="תמונה 1">
            <a:extLst>
              <a:ext uri="{FF2B5EF4-FFF2-40B4-BE49-F238E27FC236}">
                <a16:creationId xmlns:a16="http://schemas.microsoft.com/office/drawing/2014/main" id="{A6DE4D69-4BF2-5DC3-44E4-C7BF4C0A33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-141152"/>
            <a:ext cx="9139238" cy="988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7770" y="1329085"/>
            <a:ext cx="3292525" cy="35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Main Claim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27770" y="1896046"/>
            <a:ext cx="793916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Deepfake technology increases cybersecurity risks by enhancing social engineering attacks, requiring more advanced software-based detection methods.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15169" y="1116484"/>
            <a:ext cx="19050" cy="1392659"/>
          </a:xfrm>
          <a:prstGeom prst="rect">
            <a:avLst/>
          </a:prstGeom>
          <a:solidFill>
            <a:srgbClr val="101014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4" name="תמונה 1">
            <a:extLst>
              <a:ext uri="{FF2B5EF4-FFF2-40B4-BE49-F238E27FC236}">
                <a16:creationId xmlns:a16="http://schemas.microsoft.com/office/drawing/2014/main" id="{1EFCA648-174C-B1EB-F3E8-8FC45EB44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-141152"/>
            <a:ext cx="9139238" cy="988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תמונה 14">
            <a:extLst>
              <a:ext uri="{FF2B5EF4-FFF2-40B4-BE49-F238E27FC236}">
                <a16:creationId xmlns:a16="http://schemas.microsoft.com/office/drawing/2014/main" id="{B85BAC20-1B5C-67AA-A804-774CC877F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6211" y="2562275"/>
            <a:ext cx="4291577" cy="24047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2573" y="875168"/>
            <a:ext cx="16200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2573" y="1104667"/>
            <a:ext cx="2783012" cy="290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What Are Deepfakes?</a:t>
            </a:r>
            <a:endParaRPr lang="en-US" sz="2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8671"/>
          <a:stretch>
            <a:fillRect/>
          </a:stretch>
        </p:blipFill>
        <p:spPr>
          <a:xfrm>
            <a:off x="441376" y="2405688"/>
            <a:ext cx="4039427" cy="274618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17788" y="1623247"/>
            <a:ext cx="4334673" cy="9039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600" dirty="0"/>
              <a:t>AI-generated media that imitates real people through synthetic video, audio, or images. </a:t>
            </a:r>
            <a:r>
              <a:rPr lang="en-US" sz="1050" b="1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[4]</a:t>
            </a:r>
            <a:endParaRPr lang="en-US" sz="1050" b="1" i="1" dirty="0"/>
          </a:p>
        </p:txBody>
      </p:sp>
      <p:grpSp>
        <p:nvGrpSpPr>
          <p:cNvPr id="23" name="קבוצה 22">
            <a:extLst>
              <a:ext uri="{FF2B5EF4-FFF2-40B4-BE49-F238E27FC236}">
                <a16:creationId xmlns:a16="http://schemas.microsoft.com/office/drawing/2014/main" id="{903E4215-5FBF-31A0-9BAE-DEFC14AD793E}"/>
              </a:ext>
            </a:extLst>
          </p:cNvPr>
          <p:cNvGrpSpPr/>
          <p:nvPr/>
        </p:nvGrpSpPr>
        <p:grpSpPr>
          <a:xfrm>
            <a:off x="5493136" y="1246876"/>
            <a:ext cx="2645023" cy="865300"/>
            <a:chOff x="5493136" y="1219126"/>
            <a:chExt cx="2645023" cy="865300"/>
          </a:xfrm>
        </p:grpSpPr>
        <p:sp>
          <p:nvSpPr>
            <p:cNvPr id="6" name="Shape 3"/>
            <p:cNvSpPr/>
            <p:nvPr/>
          </p:nvSpPr>
          <p:spPr>
            <a:xfrm>
              <a:off x="5493136" y="1219126"/>
              <a:ext cx="2645023" cy="865300"/>
            </a:xfrm>
            <a:prstGeom prst="roundRect">
              <a:avLst>
                <a:gd name="adj" fmla="val 2170"/>
              </a:avLst>
            </a:prstGeom>
            <a:solidFill>
              <a:srgbClr val="F3F3F7"/>
            </a:solidFill>
            <a:ln w="9525">
              <a:solidFill>
                <a:srgbClr val="C6C6D2"/>
              </a:solidFill>
              <a:prstDash val="solid"/>
            </a:ln>
          </p:spPr>
          <p:txBody>
            <a:bodyPr/>
            <a:lstStyle/>
            <a:p>
              <a:endParaRPr lang="he-IL" sz="2000"/>
            </a:p>
          </p:txBody>
        </p:sp>
        <p:sp>
          <p:nvSpPr>
            <p:cNvPr id="7" name="Text 4"/>
            <p:cNvSpPr/>
            <p:nvPr/>
          </p:nvSpPr>
          <p:spPr>
            <a:xfrm>
              <a:off x="5553933" y="1332387"/>
              <a:ext cx="1924943" cy="1548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00" b="1" dirty="0">
                  <a:solidFill>
                    <a:srgbClr val="000000"/>
                  </a:solidFill>
                  <a:latin typeface="Playfair Display Bold" pitchFamily="34" charset="0"/>
                  <a:ea typeface="Playfair Display Bold" pitchFamily="34" charset="-122"/>
                  <a:cs typeface="Playfair Display Bold" pitchFamily="34" charset="-120"/>
                </a:rPr>
                <a:t>🎭       </a:t>
              </a:r>
              <a:r>
                <a:rPr lang="en-US" sz="1200" b="1" dirty="0">
                  <a:solidFill>
                    <a:srgbClr val="39393C"/>
                  </a:solidFill>
                  <a:latin typeface="Playfair Display Bold" pitchFamily="34" charset="0"/>
                  <a:ea typeface="Playfair Display Bold" pitchFamily="34" charset="-122"/>
                  <a:cs typeface="Playfair Display Bold" pitchFamily="34" charset="-120"/>
                </a:rPr>
                <a:t>Hyper-Realistic Forgery</a:t>
              </a:r>
              <a:endParaRPr lang="en-US" sz="1200" dirty="0"/>
            </a:p>
          </p:txBody>
        </p:sp>
        <p:sp>
          <p:nvSpPr>
            <p:cNvPr id="8" name="Text 5"/>
            <p:cNvSpPr/>
            <p:nvPr/>
          </p:nvSpPr>
          <p:spPr>
            <a:xfrm>
              <a:off x="5828417" y="1633880"/>
              <a:ext cx="2207199" cy="2464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lnSpc>
                  <a:spcPct val="110000"/>
                </a:lnSpc>
                <a:buNone/>
              </a:pPr>
              <a:r>
                <a:rPr lang="en-US" sz="1100" dirty="0">
                  <a:solidFill>
                    <a:srgbClr val="39393C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Indistinguishable from authentic media to the untrained eye </a:t>
              </a:r>
              <a:r>
                <a:rPr lang="en-US" sz="900" b="1" i="1" dirty="0">
                  <a:solidFill>
                    <a:srgbClr val="39393C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[4]</a:t>
              </a:r>
              <a:endParaRPr lang="en-US" sz="1100" b="1" dirty="0"/>
            </a:p>
          </p:txBody>
        </p:sp>
      </p:grpSp>
      <p:pic>
        <p:nvPicPr>
          <p:cNvPr id="18" name="תמונה 1">
            <a:extLst>
              <a:ext uri="{FF2B5EF4-FFF2-40B4-BE49-F238E27FC236}">
                <a16:creationId xmlns:a16="http://schemas.microsoft.com/office/drawing/2014/main" id="{6985E0D2-626F-93DB-8D2F-B1B593E3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-141152"/>
            <a:ext cx="9139238" cy="988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2" name="קבוצה 21">
            <a:extLst>
              <a:ext uri="{FF2B5EF4-FFF2-40B4-BE49-F238E27FC236}">
                <a16:creationId xmlns:a16="http://schemas.microsoft.com/office/drawing/2014/main" id="{54F68021-44E6-8670-1E2A-008998076933}"/>
              </a:ext>
            </a:extLst>
          </p:cNvPr>
          <p:cNvGrpSpPr/>
          <p:nvPr/>
        </p:nvGrpSpPr>
        <p:grpSpPr>
          <a:xfrm>
            <a:off x="5478521" y="2483577"/>
            <a:ext cx="2645023" cy="865300"/>
            <a:chOff x="5645536" y="2404159"/>
            <a:chExt cx="2645023" cy="865300"/>
          </a:xfrm>
        </p:grpSpPr>
        <p:sp>
          <p:nvSpPr>
            <p:cNvPr id="19" name="Shape 3">
              <a:extLst>
                <a:ext uri="{FF2B5EF4-FFF2-40B4-BE49-F238E27FC236}">
                  <a16:creationId xmlns:a16="http://schemas.microsoft.com/office/drawing/2014/main" id="{BA354987-5D18-0513-855D-D1CBF5339B0E}"/>
                </a:ext>
              </a:extLst>
            </p:cNvPr>
            <p:cNvSpPr/>
            <p:nvPr/>
          </p:nvSpPr>
          <p:spPr>
            <a:xfrm>
              <a:off x="5645536" y="2404159"/>
              <a:ext cx="2645023" cy="865300"/>
            </a:xfrm>
            <a:prstGeom prst="roundRect">
              <a:avLst>
                <a:gd name="adj" fmla="val 2170"/>
              </a:avLst>
            </a:prstGeom>
            <a:solidFill>
              <a:srgbClr val="F3F3F7"/>
            </a:solidFill>
            <a:ln w="9525">
              <a:solidFill>
                <a:srgbClr val="C6C6D2"/>
              </a:solidFill>
              <a:prstDash val="solid"/>
            </a:ln>
          </p:spPr>
          <p:txBody>
            <a:bodyPr/>
            <a:lstStyle/>
            <a:p>
              <a:endParaRPr lang="he-IL" sz="2000"/>
            </a:p>
          </p:txBody>
        </p:sp>
        <p:sp>
          <p:nvSpPr>
            <p:cNvPr id="20" name="Text 4">
              <a:extLst>
                <a:ext uri="{FF2B5EF4-FFF2-40B4-BE49-F238E27FC236}">
                  <a16:creationId xmlns:a16="http://schemas.microsoft.com/office/drawing/2014/main" id="{079F7837-4D95-B5CB-CCE2-CCF7B8128532}"/>
                </a:ext>
              </a:extLst>
            </p:cNvPr>
            <p:cNvSpPr/>
            <p:nvPr/>
          </p:nvSpPr>
          <p:spPr>
            <a:xfrm>
              <a:off x="5720948" y="2522481"/>
              <a:ext cx="1864146" cy="15316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>
                <a:lnSpc>
                  <a:spcPct val="104000"/>
                </a:lnSpc>
              </a:pPr>
              <a:r>
                <a:rPr lang="en-US" sz="1200" b="1" dirty="0">
                  <a:solidFill>
                    <a:srgbClr val="000000"/>
                  </a:solidFill>
                  <a:latin typeface="Playfair Display Bold" pitchFamily="34" charset="0"/>
                  <a:ea typeface="Playfair Display Bold" pitchFamily="34" charset="-122"/>
                  <a:cs typeface="Playfair Display Bold" pitchFamily="34" charset="-120"/>
                </a:rPr>
                <a:t>⚡             </a:t>
              </a:r>
              <a:r>
                <a:rPr lang="en-US" sz="1200" b="1" dirty="0">
                  <a:solidFill>
                    <a:srgbClr val="39393C"/>
                  </a:solidFill>
                  <a:latin typeface="Playfair Display Bold" pitchFamily="34" charset="0"/>
                  <a:ea typeface="Playfair Display Bold" pitchFamily="34" charset="-122"/>
                  <a:cs typeface="Playfair Display Bold" pitchFamily="34" charset="-120"/>
                </a:rPr>
                <a:t>Rapid Generation</a:t>
              </a:r>
              <a:endParaRPr lang="en-US" sz="1200" dirty="0"/>
            </a:p>
          </p:txBody>
        </p:sp>
        <p:sp>
          <p:nvSpPr>
            <p:cNvPr id="21" name="Text 5">
              <a:extLst>
                <a:ext uri="{FF2B5EF4-FFF2-40B4-BE49-F238E27FC236}">
                  <a16:creationId xmlns:a16="http://schemas.microsoft.com/office/drawing/2014/main" id="{13BA288C-B6D8-6A2B-2948-83DF5BF0B6AD}"/>
                </a:ext>
              </a:extLst>
            </p:cNvPr>
            <p:cNvSpPr/>
            <p:nvPr/>
          </p:nvSpPr>
          <p:spPr>
            <a:xfrm>
              <a:off x="5980817" y="2818913"/>
              <a:ext cx="2207199" cy="2464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10000"/>
                </a:lnSpc>
              </a:pPr>
              <a:r>
                <a:rPr lang="en-US" sz="1100" dirty="0">
                  <a:solidFill>
                    <a:srgbClr val="39393C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Producible at scale with minimal technical expertise </a:t>
              </a:r>
              <a:r>
                <a:rPr lang="en-US" sz="900" b="1" i="1" dirty="0">
                  <a:solidFill>
                    <a:srgbClr val="39393C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[1]</a:t>
              </a:r>
              <a:endParaRPr lang="en-US" sz="1100" b="1" dirty="0"/>
            </a:p>
          </p:txBody>
        </p:sp>
      </p:grpSp>
      <p:grpSp>
        <p:nvGrpSpPr>
          <p:cNvPr id="24" name="קבוצה 23">
            <a:extLst>
              <a:ext uri="{FF2B5EF4-FFF2-40B4-BE49-F238E27FC236}">
                <a16:creationId xmlns:a16="http://schemas.microsoft.com/office/drawing/2014/main" id="{53DF873A-A6AA-C722-C890-2AE76188A99C}"/>
              </a:ext>
            </a:extLst>
          </p:cNvPr>
          <p:cNvGrpSpPr/>
          <p:nvPr/>
        </p:nvGrpSpPr>
        <p:grpSpPr>
          <a:xfrm>
            <a:off x="5480585" y="3713492"/>
            <a:ext cx="2645023" cy="865300"/>
            <a:chOff x="5645536" y="2404159"/>
            <a:chExt cx="2645023" cy="865300"/>
          </a:xfrm>
        </p:grpSpPr>
        <p:sp>
          <p:nvSpPr>
            <p:cNvPr id="25" name="Shape 3">
              <a:extLst>
                <a:ext uri="{FF2B5EF4-FFF2-40B4-BE49-F238E27FC236}">
                  <a16:creationId xmlns:a16="http://schemas.microsoft.com/office/drawing/2014/main" id="{3B52F2D2-8D36-E20E-7ECE-FDEE2A603646}"/>
                </a:ext>
              </a:extLst>
            </p:cNvPr>
            <p:cNvSpPr/>
            <p:nvPr/>
          </p:nvSpPr>
          <p:spPr>
            <a:xfrm>
              <a:off x="5645536" y="2404159"/>
              <a:ext cx="2645023" cy="865300"/>
            </a:xfrm>
            <a:prstGeom prst="roundRect">
              <a:avLst>
                <a:gd name="adj" fmla="val 2170"/>
              </a:avLst>
            </a:prstGeom>
            <a:solidFill>
              <a:srgbClr val="F3F3F7"/>
            </a:solidFill>
            <a:ln w="9525">
              <a:solidFill>
                <a:srgbClr val="C6C6D2"/>
              </a:solidFill>
              <a:prstDash val="solid"/>
            </a:ln>
          </p:spPr>
          <p:txBody>
            <a:bodyPr/>
            <a:lstStyle/>
            <a:p>
              <a:endParaRPr lang="he-IL" sz="2000"/>
            </a:p>
          </p:txBody>
        </p:sp>
        <p:sp>
          <p:nvSpPr>
            <p:cNvPr id="26" name="Text 4">
              <a:extLst>
                <a:ext uri="{FF2B5EF4-FFF2-40B4-BE49-F238E27FC236}">
                  <a16:creationId xmlns:a16="http://schemas.microsoft.com/office/drawing/2014/main" id="{58D1EED5-C2C1-5F43-000E-16BF43C73F8C}"/>
                </a:ext>
              </a:extLst>
            </p:cNvPr>
            <p:cNvSpPr/>
            <p:nvPr/>
          </p:nvSpPr>
          <p:spPr>
            <a:xfrm>
              <a:off x="5803751" y="2520789"/>
              <a:ext cx="1840076" cy="1548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>
                <a:lnSpc>
                  <a:spcPct val="104000"/>
                </a:lnSpc>
              </a:pPr>
              <a:r>
                <a:rPr lang="en-US" sz="1200" b="1" dirty="0">
                  <a:solidFill>
                    <a:srgbClr val="000000"/>
                  </a:solidFill>
                  <a:latin typeface="Playfair Display Bold" pitchFamily="34" charset="0"/>
                  <a:ea typeface="Playfair Display Bold" pitchFamily="34" charset="-122"/>
                  <a:cs typeface="Playfair Display Bold" pitchFamily="34" charset="-120"/>
                </a:rPr>
                <a:t>🔐</a:t>
              </a:r>
              <a:r>
                <a:rPr lang="en-US" sz="1200" b="1" dirty="0">
                  <a:solidFill>
                    <a:srgbClr val="39393C"/>
                  </a:solidFill>
                  <a:latin typeface="Playfair Display Bold" pitchFamily="34" charset="0"/>
                  <a:ea typeface="Playfair Display Bold" pitchFamily="34" charset="-122"/>
                  <a:cs typeface="Playfair Display Bold" pitchFamily="34" charset="-120"/>
                </a:rPr>
                <a:t>         Cybersecurity Threat</a:t>
              </a:r>
              <a:endParaRPr lang="en-US" sz="1200" dirty="0"/>
            </a:p>
          </p:txBody>
        </p:sp>
        <p:sp>
          <p:nvSpPr>
            <p:cNvPr id="27" name="Text 5">
              <a:extLst>
                <a:ext uri="{FF2B5EF4-FFF2-40B4-BE49-F238E27FC236}">
                  <a16:creationId xmlns:a16="http://schemas.microsoft.com/office/drawing/2014/main" id="{0659595A-471B-698A-F9BB-AB5BDE0D9DAD}"/>
                </a:ext>
              </a:extLst>
            </p:cNvPr>
            <p:cNvSpPr/>
            <p:nvPr/>
          </p:nvSpPr>
          <p:spPr>
            <a:xfrm>
              <a:off x="5980817" y="2818913"/>
              <a:ext cx="2207199" cy="2464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10000"/>
                </a:lnSpc>
              </a:pPr>
              <a:r>
                <a:rPr lang="en-US" sz="1100" dirty="0">
                  <a:solidFill>
                    <a:srgbClr val="39393C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Actively weaponized in social engineering and fraud </a:t>
              </a:r>
              <a:r>
                <a:rPr lang="en-US" sz="900" b="1" i="1" dirty="0">
                  <a:solidFill>
                    <a:srgbClr val="39393C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[2]</a:t>
              </a:r>
              <a:endParaRPr lang="en-US" sz="1100" b="1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1871" y="989141"/>
            <a:ext cx="2040508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Technical Foundation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41871" y="1231359"/>
            <a:ext cx="3613696" cy="394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How Deepfakes Work</a:t>
            </a:r>
            <a:endParaRPr lang="en-US" sz="2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74" y="2015065"/>
            <a:ext cx="5394150" cy="246874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239125" y="3605719"/>
            <a:ext cx="1331784" cy="2144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8" name="Text 3"/>
          <p:cNvSpPr/>
          <p:nvPr/>
        </p:nvSpPr>
        <p:spPr>
          <a:xfrm>
            <a:off x="2977854" y="3605719"/>
            <a:ext cx="1331784" cy="2144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Synthesis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1698120" y="3604713"/>
            <a:ext cx="1331784" cy="2144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GAN Training</a:t>
            </a:r>
            <a:endParaRPr lang="en-US" sz="1200" dirty="0"/>
          </a:p>
        </p:txBody>
      </p:sp>
      <p:sp>
        <p:nvSpPr>
          <p:cNvPr id="12" name="Text 5"/>
          <p:cNvSpPr/>
          <p:nvPr/>
        </p:nvSpPr>
        <p:spPr>
          <a:xfrm>
            <a:off x="488899" y="3604713"/>
            <a:ext cx="1119565" cy="428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13" name="Text 6"/>
          <p:cNvSpPr/>
          <p:nvPr/>
        </p:nvSpPr>
        <p:spPr>
          <a:xfrm>
            <a:off x="848931" y="4673711"/>
            <a:ext cx="8534813" cy="572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0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</a:t>
            </a:r>
            <a:r>
              <a:rPr lang="en-US" sz="10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enerative </a:t>
            </a:r>
            <a:r>
              <a:rPr lang="en-US" sz="10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</a:t>
            </a:r>
            <a:r>
              <a:rPr lang="en-US" sz="10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dversarial </a:t>
            </a:r>
            <a:r>
              <a:rPr lang="en-US" sz="10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</a:t>
            </a:r>
            <a:r>
              <a:rPr lang="en-US" sz="10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etworks (GANs) and Deep Learning models generate realistic synthetic media and cloned voices. </a:t>
            </a:r>
            <a:r>
              <a:rPr lang="en-US" sz="800" b="1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[4]</a:t>
            </a:r>
            <a:endParaRPr lang="en-US" sz="1000" b="1" dirty="0"/>
          </a:p>
        </p:txBody>
      </p:sp>
      <p:pic>
        <p:nvPicPr>
          <p:cNvPr id="15" name="תמונה 1">
            <a:extLst>
              <a:ext uri="{FF2B5EF4-FFF2-40B4-BE49-F238E27FC236}">
                <a16:creationId xmlns:a16="http://schemas.microsoft.com/office/drawing/2014/main" id="{0FBC0CC1-56E5-DFAB-73C4-AD798670FD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-141152"/>
            <a:ext cx="9139238" cy="988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Shape 4">
            <a:extLst>
              <a:ext uri="{FF2B5EF4-FFF2-40B4-BE49-F238E27FC236}">
                <a16:creationId xmlns:a16="http://schemas.microsoft.com/office/drawing/2014/main" id="{85C21D9A-27B8-7B75-5489-45F51EC59055}"/>
              </a:ext>
            </a:extLst>
          </p:cNvPr>
          <p:cNvSpPr/>
          <p:nvPr/>
        </p:nvSpPr>
        <p:spPr>
          <a:xfrm>
            <a:off x="6055768" y="1231359"/>
            <a:ext cx="2480964" cy="709903"/>
          </a:xfrm>
          <a:prstGeom prst="roundRect">
            <a:avLst>
              <a:gd name="adj" fmla="val 1411"/>
            </a:avLst>
          </a:prstGeom>
          <a:solidFill>
            <a:srgbClr val="E0E0EC"/>
          </a:solidFill>
          <a:ln/>
        </p:spPr>
        <p:txBody>
          <a:bodyPr/>
          <a:lstStyle/>
          <a:p>
            <a:endParaRPr lang="he-IL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E0827275-8D46-5ED9-CB02-5C9D6E9771DB}"/>
              </a:ext>
            </a:extLst>
          </p:cNvPr>
          <p:cNvSpPr/>
          <p:nvPr/>
        </p:nvSpPr>
        <p:spPr>
          <a:xfrm>
            <a:off x="6197526" y="1304916"/>
            <a:ext cx="2229222" cy="230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Data Collection</a:t>
            </a:r>
            <a:endParaRPr lang="en-US" sz="135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D4A399CE-ABA4-F7A4-FDD9-EE1F5CD777D8}"/>
              </a:ext>
            </a:extLst>
          </p:cNvPr>
          <p:cNvSpPr/>
          <p:nvPr/>
        </p:nvSpPr>
        <p:spPr>
          <a:xfrm>
            <a:off x="6197526" y="1548850"/>
            <a:ext cx="2229222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00" dirty="0"/>
              <a:t>Images, videos, and voice samples are gathered to train AI models. </a:t>
            </a:r>
            <a:r>
              <a:rPr lang="en-US" sz="700" b="1" i="1" dirty="0"/>
              <a:t>[4]</a:t>
            </a:r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F3357829-2C14-F59B-A2C8-022EF7ADDE40}"/>
              </a:ext>
            </a:extLst>
          </p:cNvPr>
          <p:cNvSpPr/>
          <p:nvPr/>
        </p:nvSpPr>
        <p:spPr>
          <a:xfrm>
            <a:off x="6055768" y="2029541"/>
            <a:ext cx="2480964" cy="709903"/>
          </a:xfrm>
          <a:prstGeom prst="roundRect">
            <a:avLst>
              <a:gd name="adj" fmla="val 1411"/>
            </a:avLst>
          </a:prstGeom>
          <a:solidFill>
            <a:srgbClr val="E0E0EC"/>
          </a:solidFill>
          <a:ln/>
        </p:spPr>
        <p:txBody>
          <a:bodyPr/>
          <a:lstStyle/>
          <a:p>
            <a:endParaRPr lang="he-IL" dirty="0"/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79CD8311-3596-E18A-A901-C950E5073712}"/>
              </a:ext>
            </a:extLst>
          </p:cNvPr>
          <p:cNvSpPr/>
          <p:nvPr/>
        </p:nvSpPr>
        <p:spPr>
          <a:xfrm>
            <a:off x="6197526" y="2103098"/>
            <a:ext cx="2229222" cy="230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GAN Training</a:t>
            </a:r>
            <a:endParaRPr lang="en-US" sz="1350" dirty="0"/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7B58AE10-E84B-A8BA-EC41-68E6FBD05165}"/>
              </a:ext>
            </a:extLst>
          </p:cNvPr>
          <p:cNvSpPr/>
          <p:nvPr/>
        </p:nvSpPr>
        <p:spPr>
          <a:xfrm>
            <a:off x="6197526" y="2347032"/>
            <a:ext cx="2229222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00" dirty="0"/>
              <a:t>Generator and discriminator networks compete to improve realism. </a:t>
            </a:r>
            <a:r>
              <a:rPr lang="en-US" sz="700" b="1" i="1" dirty="0"/>
              <a:t>[4]</a:t>
            </a:r>
          </a:p>
        </p:txBody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1D403E5D-0CA4-22D2-FC1B-87F81BA325CF}"/>
              </a:ext>
            </a:extLst>
          </p:cNvPr>
          <p:cNvSpPr/>
          <p:nvPr/>
        </p:nvSpPr>
        <p:spPr>
          <a:xfrm>
            <a:off x="6055768" y="2834701"/>
            <a:ext cx="2480964" cy="709903"/>
          </a:xfrm>
          <a:prstGeom prst="roundRect">
            <a:avLst>
              <a:gd name="adj" fmla="val 1411"/>
            </a:avLst>
          </a:prstGeom>
          <a:solidFill>
            <a:srgbClr val="E0E0EC"/>
          </a:solidFill>
          <a:ln/>
        </p:spPr>
        <p:txBody>
          <a:bodyPr/>
          <a:lstStyle/>
          <a:p>
            <a:endParaRPr lang="he-IL" dirty="0"/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10D9CB3F-4A0D-1F09-AFF5-17663837702D}"/>
              </a:ext>
            </a:extLst>
          </p:cNvPr>
          <p:cNvSpPr/>
          <p:nvPr/>
        </p:nvSpPr>
        <p:spPr>
          <a:xfrm>
            <a:off x="6197526" y="2908258"/>
            <a:ext cx="2229222" cy="230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Synthesis</a:t>
            </a:r>
            <a:endParaRPr lang="en-US" sz="1350" dirty="0"/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1F366C3C-7567-57C9-2C73-06DCC8ABD27B}"/>
              </a:ext>
            </a:extLst>
          </p:cNvPr>
          <p:cNvSpPr/>
          <p:nvPr/>
        </p:nvSpPr>
        <p:spPr>
          <a:xfrm>
            <a:off x="6197526" y="3152192"/>
            <a:ext cx="2229222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00" dirty="0"/>
              <a:t>AI creates cloned voices, face swaps, and synthetic expressions. </a:t>
            </a:r>
            <a:r>
              <a:rPr lang="en-US" sz="700" b="1" i="1" dirty="0"/>
              <a:t>[1],[4]</a:t>
            </a:r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0C034ED0-1CC4-72B6-32CE-8D49B3B8840C}"/>
              </a:ext>
            </a:extLst>
          </p:cNvPr>
          <p:cNvSpPr/>
          <p:nvPr/>
        </p:nvSpPr>
        <p:spPr>
          <a:xfrm>
            <a:off x="6055768" y="3663033"/>
            <a:ext cx="2480964" cy="709903"/>
          </a:xfrm>
          <a:prstGeom prst="roundRect">
            <a:avLst>
              <a:gd name="adj" fmla="val 1411"/>
            </a:avLst>
          </a:prstGeom>
          <a:solidFill>
            <a:srgbClr val="E0E0EC"/>
          </a:solidFill>
          <a:ln/>
        </p:spPr>
        <p:txBody>
          <a:bodyPr/>
          <a:lstStyle/>
          <a:p>
            <a:endParaRPr lang="he-IL" dirty="0"/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F87FD28B-D1C9-67DE-2C86-990F34970338}"/>
              </a:ext>
            </a:extLst>
          </p:cNvPr>
          <p:cNvSpPr/>
          <p:nvPr/>
        </p:nvSpPr>
        <p:spPr>
          <a:xfrm>
            <a:off x="6197526" y="3736590"/>
            <a:ext cx="2229222" cy="230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Deployment</a:t>
            </a:r>
            <a:endParaRPr lang="en-US" sz="1350" dirty="0"/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15DE19A7-213A-D9A4-C475-5CC54A343638}"/>
              </a:ext>
            </a:extLst>
          </p:cNvPr>
          <p:cNvSpPr/>
          <p:nvPr/>
        </p:nvSpPr>
        <p:spPr>
          <a:xfrm>
            <a:off x="6197526" y="3980524"/>
            <a:ext cx="2229222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00" dirty="0"/>
              <a:t>Deepfakes are distributed through phishing, social media, or fraud attacks. </a:t>
            </a:r>
            <a:r>
              <a:rPr lang="en-US" sz="700" b="1" i="1" dirty="0"/>
              <a:t>[1],[2]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49475" y="859693"/>
            <a:ext cx="2328751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Attack Vectors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3249476" y="1130189"/>
            <a:ext cx="4507684" cy="401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Deepfakes in Social Engineering</a:t>
            </a:r>
            <a:endParaRPr lang="en-US" sz="23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49475" y="1657730"/>
            <a:ext cx="290034" cy="25695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651906" y="1701857"/>
            <a:ext cx="2328751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Spear Phishing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3651906" y="1972352"/>
            <a:ext cx="4981553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Personalized fake emails and credential theft </a:t>
            </a:r>
            <a:r>
              <a:rPr lang="en-US" sz="1200" b="1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[1]</a:t>
            </a:r>
            <a:endParaRPr lang="en-US" sz="1400" b="1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49475" y="2529527"/>
            <a:ext cx="290034" cy="25695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1906" y="2573655"/>
            <a:ext cx="2328751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Vishing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3651907" y="2844150"/>
            <a:ext cx="4981553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AI-cloned executive voice calls </a:t>
            </a:r>
            <a:r>
              <a:rPr lang="en-US" sz="1200" b="1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[2],[3]</a:t>
            </a:r>
            <a:endParaRPr lang="en-US" sz="1400" b="1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49475" y="3369157"/>
            <a:ext cx="290034" cy="25695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651906" y="3413285"/>
            <a:ext cx="2600641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Executive Impersonation</a:t>
            </a:r>
            <a:endParaRPr lang="en-US" sz="1250" dirty="0"/>
          </a:p>
        </p:txBody>
      </p:sp>
      <p:sp>
        <p:nvSpPr>
          <p:cNvPr id="13" name="Text 7"/>
          <p:cNvSpPr/>
          <p:nvPr/>
        </p:nvSpPr>
        <p:spPr>
          <a:xfrm>
            <a:off x="3651907" y="3683780"/>
            <a:ext cx="4981553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Synthetic videos authorizing fraud </a:t>
            </a:r>
            <a:r>
              <a:rPr lang="en-US" sz="1200" b="1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[1],[3]</a:t>
            </a:r>
            <a:endParaRPr lang="en-US" sz="1400" b="1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9475" y="4308486"/>
            <a:ext cx="290034" cy="25695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3651906" y="4352613"/>
            <a:ext cx="2557301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Emotional Manipulation</a:t>
            </a:r>
            <a:endParaRPr lang="en-US" sz="1250" dirty="0"/>
          </a:p>
        </p:txBody>
      </p:sp>
      <p:sp>
        <p:nvSpPr>
          <p:cNvPr id="16" name="Text 9"/>
          <p:cNvSpPr/>
          <p:nvPr/>
        </p:nvSpPr>
        <p:spPr>
          <a:xfrm>
            <a:off x="3651907" y="4623109"/>
            <a:ext cx="4981553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Fake emergencies exploiting panic </a:t>
            </a:r>
            <a:r>
              <a:rPr lang="en-US" sz="1200" b="1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[5]</a:t>
            </a:r>
            <a:endParaRPr lang="en-US" sz="1400" b="1" dirty="0"/>
          </a:p>
        </p:txBody>
      </p:sp>
      <p:pic>
        <p:nvPicPr>
          <p:cNvPr id="19" name="תמונה 1">
            <a:extLst>
              <a:ext uri="{FF2B5EF4-FFF2-40B4-BE49-F238E27FC236}">
                <a16:creationId xmlns:a16="http://schemas.microsoft.com/office/drawing/2014/main" id="{9B81841E-2612-B195-EF9F-3E78294C2D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-141152"/>
            <a:ext cx="9139238" cy="988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C1CA6A30-CF04-C333-65FE-CF8052250F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163667"/>
            <a:ext cx="3429000" cy="51435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21643" y="1108376"/>
            <a:ext cx="5310857" cy="366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Real-World Cybersecurity Incidents</a:t>
            </a:r>
            <a:endParaRPr lang="en-US" sz="2300" dirty="0"/>
          </a:p>
        </p:txBody>
      </p:sp>
      <p:sp>
        <p:nvSpPr>
          <p:cNvPr id="23" name="Shape 21"/>
          <p:cNvSpPr/>
          <p:nvPr/>
        </p:nvSpPr>
        <p:spPr>
          <a:xfrm>
            <a:off x="536826" y="1686095"/>
            <a:ext cx="4291577" cy="647267"/>
          </a:xfrm>
          <a:prstGeom prst="roundRect">
            <a:avLst>
              <a:gd name="adj" fmla="val 2236"/>
            </a:avLst>
          </a:prstGeom>
          <a:solidFill>
            <a:srgbClr val="E0E0E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5" name="Text 22"/>
          <p:cNvSpPr/>
          <p:nvPr/>
        </p:nvSpPr>
        <p:spPr>
          <a:xfrm>
            <a:off x="978457" y="1766926"/>
            <a:ext cx="3408313" cy="515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>
              <a:lnSpc>
                <a:spcPct val="122000"/>
              </a:lnSpc>
            </a:pPr>
            <a:r>
              <a:rPr lang="en-US" sz="1000" b="1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Financial Impact:</a:t>
            </a: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Deepfake-enabled fraud is causing severe financial losses, with attacks rising sharply since 2022. </a:t>
            </a:r>
            <a:r>
              <a:rPr lang="en-US" sz="800" b="1" i="1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[1],[3]</a:t>
            </a:r>
            <a:endParaRPr lang="en-US" sz="800" b="1" dirty="0"/>
          </a:p>
        </p:txBody>
      </p:sp>
      <p:pic>
        <p:nvPicPr>
          <p:cNvPr id="28" name="תמונה 1">
            <a:extLst>
              <a:ext uri="{FF2B5EF4-FFF2-40B4-BE49-F238E27FC236}">
                <a16:creationId xmlns:a16="http://schemas.microsoft.com/office/drawing/2014/main" id="{5FFF1E82-5CEC-5F90-4DF3-455B97F136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-141152"/>
            <a:ext cx="9139238" cy="988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תמונה 9">
            <a:extLst>
              <a:ext uri="{FF2B5EF4-FFF2-40B4-BE49-F238E27FC236}">
                <a16:creationId xmlns:a16="http://schemas.microsoft.com/office/drawing/2014/main" id="{7666A6FF-5B85-F5EA-38DC-F134677566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9380" y="3657201"/>
            <a:ext cx="3985419" cy="963687"/>
          </a:xfrm>
          <a:prstGeom prst="rect">
            <a:avLst/>
          </a:prstGeom>
        </p:spPr>
      </p:pic>
      <p:pic>
        <p:nvPicPr>
          <p:cNvPr id="12" name="תמונה 11">
            <a:extLst>
              <a:ext uri="{FF2B5EF4-FFF2-40B4-BE49-F238E27FC236}">
                <a16:creationId xmlns:a16="http://schemas.microsoft.com/office/drawing/2014/main" id="{D55E5206-A513-68AE-EA6F-7FCEB58081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034" y="1686095"/>
            <a:ext cx="3644109" cy="1675794"/>
          </a:xfrm>
          <a:prstGeom prst="rect">
            <a:avLst/>
          </a:prstGeom>
        </p:spPr>
      </p:pic>
      <p:pic>
        <p:nvPicPr>
          <p:cNvPr id="14" name="תמונה 13">
            <a:extLst>
              <a:ext uri="{FF2B5EF4-FFF2-40B4-BE49-F238E27FC236}">
                <a16:creationId xmlns:a16="http://schemas.microsoft.com/office/drawing/2014/main" id="{EDD07CF7-4A03-E8D0-BA15-0301509ED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26" y="2491938"/>
            <a:ext cx="4175340" cy="2330526"/>
          </a:xfrm>
          <a:prstGeom prst="rect">
            <a:avLst/>
          </a:prstGeom>
        </p:spPr>
      </p:pic>
      <p:pic>
        <p:nvPicPr>
          <p:cNvPr id="20" name="תמונה 19">
            <a:extLst>
              <a:ext uri="{FF2B5EF4-FFF2-40B4-BE49-F238E27FC236}">
                <a16:creationId xmlns:a16="http://schemas.microsoft.com/office/drawing/2014/main" id="{D2203DCC-3721-E1D4-C1C2-36AFE0A3B9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861" y="1766926"/>
            <a:ext cx="269351" cy="273845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E0648746-08DC-F245-4AA7-BD9658982A0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" t="17" r="14009" b="-17"/>
          <a:stretch>
            <a:fillRect/>
          </a:stretch>
        </p:blipFill>
        <p:spPr>
          <a:xfrm flipV="1">
            <a:off x="3019910" y="3086103"/>
            <a:ext cx="725796" cy="45719"/>
          </a:xfrm>
          <a:prstGeom prst="rect">
            <a:avLst/>
          </a:prstGeom>
        </p:spPr>
      </p:pic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B0CA0366-AA3C-E8CC-D5F7-870048CB0D17}"/>
              </a:ext>
            </a:extLst>
          </p:cNvPr>
          <p:cNvSpPr txBox="1"/>
          <p:nvPr/>
        </p:nvSpPr>
        <p:spPr>
          <a:xfrm>
            <a:off x="3701652" y="3017413"/>
            <a:ext cx="265512" cy="1892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30" b="0" cap="none" spc="0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</a:rPr>
              <a:t>39</a:t>
            </a:r>
            <a:endParaRPr lang="he-IL" sz="630" b="0" cap="none" spc="0" dirty="0">
              <a:ln w="0"/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9610" y="850776"/>
            <a:ext cx="2063130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Defense Mechanisms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49610" y="1097980"/>
            <a:ext cx="6329809" cy="401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Existing Detection Methods and Countermeasures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704579" y="1615828"/>
            <a:ext cx="2138586" cy="1601242"/>
          </a:xfrm>
          <a:prstGeom prst="roundRect">
            <a:avLst>
              <a:gd name="adj" fmla="val 4283"/>
            </a:avLst>
          </a:prstGeom>
          <a:solidFill>
            <a:srgbClr val="F3F3F7"/>
          </a:solidFill>
          <a:ln w="14288">
            <a:solidFill>
              <a:srgbClr val="C6C6D2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2690291" y="1615828"/>
            <a:ext cx="57150" cy="1601242"/>
          </a:xfrm>
          <a:prstGeom prst="roundRect">
            <a:avLst>
              <a:gd name="adj" fmla="val 33721"/>
            </a:avLst>
          </a:prstGeom>
          <a:solidFill>
            <a:srgbClr val="10101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2890167" y="1758554"/>
            <a:ext cx="1810271" cy="415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🔬</a:t>
            </a:r>
            <a:r>
              <a:rPr lang="en-US" sz="12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 Facial Landmark Analysis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890167" y="2290614"/>
            <a:ext cx="1810271" cy="7837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2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Detects abnormal facial movement. </a:t>
            </a:r>
            <a:r>
              <a:rPr lang="en-US" sz="1050" b="1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[3]</a:t>
            </a:r>
            <a:endParaRPr lang="en-US" sz="1200" b="1" i="1" dirty="0">
              <a:solidFill>
                <a:srgbClr val="39393C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161359" y="1628031"/>
            <a:ext cx="3537719" cy="1128117"/>
          </a:xfrm>
          <a:prstGeom prst="roundRect">
            <a:avLst>
              <a:gd name="adj" fmla="val 1486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798" y="1823740"/>
            <a:ext cx="160586" cy="12843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578822" y="1776487"/>
            <a:ext cx="2991817" cy="9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Human + AI Verification:</a:t>
            </a: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Automated AI detection combined with human oversight provides the strongest defense against deepfake attacks. </a:t>
            </a:r>
            <a:r>
              <a:rPr lang="en-US" sz="850" b="1" i="1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[2],[3],[5]</a:t>
            </a:r>
            <a:endParaRPr lang="en-US" sz="850" b="1" i="1" dirty="0"/>
          </a:p>
        </p:txBody>
      </p:sp>
      <p:pic>
        <p:nvPicPr>
          <p:cNvPr id="24" name="תמונה 1">
            <a:extLst>
              <a:ext uri="{FF2B5EF4-FFF2-40B4-BE49-F238E27FC236}">
                <a16:creationId xmlns:a16="http://schemas.microsoft.com/office/drawing/2014/main" id="{46714BB4-B495-3780-2E55-1F7E956E5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-141152"/>
            <a:ext cx="9139238" cy="988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6" name="תמונה 25">
            <a:extLst>
              <a:ext uri="{FF2B5EF4-FFF2-40B4-BE49-F238E27FC236}">
                <a16:creationId xmlns:a16="http://schemas.microsoft.com/office/drawing/2014/main" id="{420CDECA-76AA-4FAF-D337-8399403F5D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0075" y="3143288"/>
            <a:ext cx="1803610" cy="1803610"/>
          </a:xfrm>
          <a:prstGeom prst="rect">
            <a:avLst/>
          </a:prstGeom>
        </p:spPr>
      </p:pic>
      <p:pic>
        <p:nvPicPr>
          <p:cNvPr id="32" name="תמונה 31">
            <a:extLst>
              <a:ext uri="{FF2B5EF4-FFF2-40B4-BE49-F238E27FC236}">
                <a16:creationId xmlns:a16="http://schemas.microsoft.com/office/drawing/2014/main" id="{C5A118BD-FC92-BC0A-5927-27B2C82B4E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5468" y="3120851"/>
            <a:ext cx="1897041" cy="1897041"/>
          </a:xfrm>
          <a:prstGeom prst="rect">
            <a:avLst/>
          </a:prstGeom>
        </p:spPr>
      </p:pic>
      <p:sp>
        <p:nvSpPr>
          <p:cNvPr id="23" name="Shape 6"/>
          <p:cNvSpPr/>
          <p:nvPr/>
        </p:nvSpPr>
        <p:spPr>
          <a:xfrm>
            <a:off x="2704578" y="3359796"/>
            <a:ext cx="2138586" cy="1601242"/>
          </a:xfrm>
          <a:prstGeom prst="roundRect">
            <a:avLst>
              <a:gd name="adj" fmla="val 4283"/>
            </a:avLst>
          </a:prstGeom>
          <a:solidFill>
            <a:srgbClr val="F3F3F7"/>
          </a:solidFill>
          <a:ln w="14288">
            <a:solidFill>
              <a:srgbClr val="C6C6D2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5" name="Shape 7"/>
          <p:cNvSpPr/>
          <p:nvPr/>
        </p:nvSpPr>
        <p:spPr>
          <a:xfrm>
            <a:off x="2690291" y="3359796"/>
            <a:ext cx="57150" cy="1601242"/>
          </a:xfrm>
          <a:prstGeom prst="roundRect">
            <a:avLst>
              <a:gd name="adj" fmla="val 33721"/>
            </a:avLst>
          </a:prstGeom>
          <a:solidFill>
            <a:srgbClr val="10101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7" name="Text 8"/>
          <p:cNvSpPr/>
          <p:nvPr/>
        </p:nvSpPr>
        <p:spPr>
          <a:xfrm>
            <a:off x="2890167" y="3502522"/>
            <a:ext cx="1967284" cy="415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👄</a:t>
            </a:r>
            <a:r>
              <a:rPr lang="en-US" sz="12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 Lip-Sync Verification</a:t>
            </a:r>
            <a:endParaRPr lang="en-US" sz="1250" dirty="0"/>
          </a:p>
        </p:txBody>
      </p:sp>
      <p:sp>
        <p:nvSpPr>
          <p:cNvPr id="28" name="Text 9"/>
          <p:cNvSpPr/>
          <p:nvPr/>
        </p:nvSpPr>
        <p:spPr>
          <a:xfrm>
            <a:off x="2890165" y="3838855"/>
            <a:ext cx="1810271" cy="587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2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Identifies audio-video mismatches. </a:t>
            </a:r>
            <a:r>
              <a:rPr lang="en-US" sz="1050" b="1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[5]</a:t>
            </a:r>
            <a:endParaRPr lang="en-US" sz="1200" b="1" i="1" dirty="0">
              <a:solidFill>
                <a:srgbClr val="39393C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</p:txBody>
      </p:sp>
      <p:sp>
        <p:nvSpPr>
          <p:cNvPr id="8" name="Shape 10"/>
          <p:cNvSpPr/>
          <p:nvPr/>
        </p:nvSpPr>
        <p:spPr>
          <a:xfrm>
            <a:off x="449610" y="1615828"/>
            <a:ext cx="2138586" cy="1601242"/>
          </a:xfrm>
          <a:prstGeom prst="roundRect">
            <a:avLst>
              <a:gd name="adj" fmla="val 4283"/>
            </a:avLst>
          </a:prstGeom>
          <a:solidFill>
            <a:srgbClr val="F3F3F7"/>
          </a:solidFill>
          <a:ln w="14288">
            <a:solidFill>
              <a:srgbClr val="C6C6D2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Shape 11"/>
          <p:cNvSpPr/>
          <p:nvPr/>
        </p:nvSpPr>
        <p:spPr>
          <a:xfrm>
            <a:off x="435322" y="1615828"/>
            <a:ext cx="57150" cy="1601242"/>
          </a:xfrm>
          <a:prstGeom prst="roundRect">
            <a:avLst>
              <a:gd name="adj" fmla="val 33721"/>
            </a:avLst>
          </a:prstGeom>
          <a:solidFill>
            <a:srgbClr val="10101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12"/>
          <p:cNvSpPr/>
          <p:nvPr/>
        </p:nvSpPr>
        <p:spPr>
          <a:xfrm>
            <a:off x="635198" y="1758554"/>
            <a:ext cx="1810271" cy="415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🤖</a:t>
            </a:r>
            <a:r>
              <a:rPr lang="en-US" sz="12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 AI-Assisted</a:t>
            </a:r>
          </a:p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9393C"/>
                </a:solidFill>
                <a:latin typeface="Playfair Display Bold" pitchFamily="34" charset="0"/>
              </a:rPr>
              <a:t>Phishing Filters</a:t>
            </a:r>
            <a:endParaRPr lang="en-US" sz="1250" dirty="0"/>
          </a:p>
        </p:txBody>
      </p:sp>
      <p:sp>
        <p:nvSpPr>
          <p:cNvPr id="11" name="Text 13"/>
          <p:cNvSpPr/>
          <p:nvPr/>
        </p:nvSpPr>
        <p:spPr>
          <a:xfrm>
            <a:off x="635198" y="2290615"/>
            <a:ext cx="1810271" cy="7837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2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Detects suspicious patterns in AI-generated phishing content. </a:t>
            </a:r>
            <a:r>
              <a:rPr lang="it-IT" sz="1050" b="1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[1]</a:t>
            </a:r>
            <a:endParaRPr lang="it-IT" sz="1200" b="1" i="1" dirty="0">
              <a:solidFill>
                <a:srgbClr val="39393C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</p:txBody>
      </p:sp>
      <p:sp>
        <p:nvSpPr>
          <p:cNvPr id="29" name="Shape 14"/>
          <p:cNvSpPr/>
          <p:nvPr/>
        </p:nvSpPr>
        <p:spPr>
          <a:xfrm>
            <a:off x="449610" y="3359796"/>
            <a:ext cx="2138586" cy="1601242"/>
          </a:xfrm>
          <a:prstGeom prst="roundRect">
            <a:avLst>
              <a:gd name="adj" fmla="val 4283"/>
            </a:avLst>
          </a:prstGeom>
          <a:solidFill>
            <a:srgbClr val="F3F3F7"/>
          </a:solidFill>
          <a:ln w="14288">
            <a:solidFill>
              <a:srgbClr val="C6C6D2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0" name="Shape 15"/>
          <p:cNvSpPr/>
          <p:nvPr/>
        </p:nvSpPr>
        <p:spPr>
          <a:xfrm>
            <a:off x="435323" y="3359796"/>
            <a:ext cx="57150" cy="1601242"/>
          </a:xfrm>
          <a:prstGeom prst="roundRect">
            <a:avLst>
              <a:gd name="adj" fmla="val 33721"/>
            </a:avLst>
          </a:prstGeom>
          <a:solidFill>
            <a:srgbClr val="10101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1" name="Text 16"/>
          <p:cNvSpPr/>
          <p:nvPr/>
        </p:nvSpPr>
        <p:spPr>
          <a:xfrm>
            <a:off x="635199" y="3502522"/>
            <a:ext cx="2063130" cy="21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🔒</a:t>
            </a:r>
            <a:r>
              <a:rPr lang="en-US" sz="12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 Zero-Trust</a:t>
            </a:r>
            <a:endParaRPr lang="en-US" sz="1250" dirty="0"/>
          </a:p>
        </p:txBody>
      </p:sp>
      <p:sp>
        <p:nvSpPr>
          <p:cNvPr id="33" name="Text 17"/>
          <p:cNvSpPr/>
          <p:nvPr/>
        </p:nvSpPr>
        <p:spPr>
          <a:xfrm>
            <a:off x="635199" y="3833888"/>
            <a:ext cx="1897369" cy="9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2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Limits successful impersonation attacks. </a:t>
            </a:r>
            <a:r>
              <a:rPr lang="en-US" sz="1050" b="1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[3]</a:t>
            </a:r>
            <a:endParaRPr lang="en-US" sz="1200" b="1" i="1" dirty="0">
              <a:solidFill>
                <a:srgbClr val="39393C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96119" y="1210940"/>
            <a:ext cx="5961162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04000"/>
              </a:lnSpc>
            </a:pPr>
            <a:r>
              <a:rPr lang="en-US" sz="27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Summary </a:t>
            </a:r>
            <a:r>
              <a:rPr lang="en-US" sz="28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and a Look to the Future</a:t>
            </a:r>
            <a:endParaRPr lang="en-US" sz="2750" b="1" dirty="0">
              <a:solidFill>
                <a:srgbClr val="101014"/>
              </a:solidFill>
              <a:latin typeface="Playfair Display Bold" pitchFamily="34" charset="0"/>
              <a:ea typeface="Playfair Display Bold" pitchFamily="34" charset="-122"/>
              <a:cs typeface="Playfair Display Bold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5251" y="1992846"/>
            <a:ext cx="793916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Deepfakes are no longer experimental threats, they are </a:t>
            </a:r>
            <a:r>
              <a:rPr lang="en-US" sz="1300" b="1" dirty="0">
                <a:solidFill>
                  <a:srgbClr val="FF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operational cyber weapons.</a:t>
            </a:r>
            <a:endParaRPr lang="en-US" sz="1300" dirty="0">
              <a:solidFill>
                <a:srgbClr val="39393C"/>
              </a:solidFill>
              <a:latin typeface="Open Sans" pitchFamily="34" charset="0"/>
              <a:ea typeface="Open Sans" pitchFamily="34" charset="-122"/>
              <a:cs typeface="Open Sans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96119" y="2751237"/>
            <a:ext cx="2622724" cy="1506810"/>
          </a:xfrm>
          <a:prstGeom prst="roundRect">
            <a:avLst>
              <a:gd name="adj" fmla="val 1411"/>
            </a:avLst>
          </a:prstGeom>
          <a:solidFill>
            <a:srgbClr val="E0E0E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637877" y="2892996"/>
            <a:ext cx="2229222" cy="230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Confirmed Threat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37877" y="3209032"/>
            <a:ext cx="238617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Deepfakes have transformed social engineering into a more </a:t>
            </a:r>
            <a:r>
              <a:rPr lang="en-US" sz="11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convincing</a:t>
            </a:r>
            <a:r>
              <a:rPr lang="en-US" sz="11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and </a:t>
            </a:r>
            <a:r>
              <a:rPr lang="en-US" sz="11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dangerous</a:t>
            </a:r>
            <a:r>
              <a:rPr lang="en-US" sz="11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form of cyberattack.</a:t>
            </a:r>
            <a:endParaRPr lang="en-US" sz="1100" b="1" dirty="0"/>
          </a:p>
        </p:txBody>
      </p:sp>
      <p:sp>
        <p:nvSpPr>
          <p:cNvPr id="9" name="Shape 7"/>
          <p:cNvSpPr/>
          <p:nvPr/>
        </p:nvSpPr>
        <p:spPr>
          <a:xfrm>
            <a:off x="3260601" y="2751237"/>
            <a:ext cx="2622724" cy="1506810"/>
          </a:xfrm>
          <a:prstGeom prst="roundRect">
            <a:avLst>
              <a:gd name="adj" fmla="val 1411"/>
            </a:avLst>
          </a:prstGeom>
          <a:solidFill>
            <a:srgbClr val="E0E0E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3402360" y="2892996"/>
            <a:ext cx="2229222" cy="230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Proven Danger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02360" y="3209032"/>
            <a:ext cx="233920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combination of </a:t>
            </a:r>
            <a:r>
              <a:rPr lang="en-US" sz="11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realism</a:t>
            </a:r>
            <a:r>
              <a:rPr lang="en-US" sz="11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en-US" sz="11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emotional manipulation</a:t>
            </a:r>
            <a:r>
              <a:rPr lang="en-US" sz="11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and </a:t>
            </a:r>
            <a:r>
              <a:rPr lang="en-US" sz="11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rapid online spread </a:t>
            </a:r>
            <a:r>
              <a:rPr lang="en-US" sz="11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makes deepfakes difficult to resist.</a:t>
            </a:r>
            <a:endParaRPr lang="en-US" sz="1100" b="1" dirty="0"/>
          </a:p>
        </p:txBody>
      </p:sp>
      <p:sp>
        <p:nvSpPr>
          <p:cNvPr id="12" name="Shape 10"/>
          <p:cNvSpPr/>
          <p:nvPr/>
        </p:nvSpPr>
        <p:spPr>
          <a:xfrm>
            <a:off x="6025083" y="2751237"/>
            <a:ext cx="2622724" cy="1506810"/>
          </a:xfrm>
          <a:prstGeom prst="roundRect">
            <a:avLst>
              <a:gd name="adj" fmla="val 1411"/>
            </a:avLst>
          </a:prstGeom>
          <a:solidFill>
            <a:srgbClr val="E0E0E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6166842" y="2892996"/>
            <a:ext cx="2304008" cy="230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9393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Defense Imperative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166842" y="3209032"/>
            <a:ext cx="2339206" cy="958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Future cybersecurity will rely on </a:t>
            </a:r>
            <a:r>
              <a:rPr lang="en-US" sz="11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verification</a:t>
            </a:r>
            <a:r>
              <a:rPr lang="en-US" sz="11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en-US" sz="11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stronger security systems</a:t>
            </a:r>
            <a:r>
              <a:rPr lang="en-US" sz="11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and </a:t>
            </a:r>
            <a:r>
              <a:rPr lang="en-US" sz="11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public awareness.</a:t>
            </a:r>
            <a:endParaRPr lang="en-US" sz="1100" b="1" dirty="0"/>
          </a:p>
        </p:txBody>
      </p:sp>
      <p:pic>
        <p:nvPicPr>
          <p:cNvPr id="17" name="תמונה 1">
            <a:extLst>
              <a:ext uri="{FF2B5EF4-FFF2-40B4-BE49-F238E27FC236}">
                <a16:creationId xmlns:a16="http://schemas.microsoft.com/office/drawing/2014/main" id="{DF738264-ACA8-7D9E-8C18-6FE88CD31F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-141152"/>
            <a:ext cx="9139238" cy="988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79A26416-D2A6-E985-8BEE-A9D8A97C432E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75000"/>
          </a:blip>
          <a:stretch>
            <a:fillRect/>
          </a:stretch>
        </p:blipFill>
        <p:spPr>
          <a:xfrm>
            <a:off x="7933933" y="1590265"/>
            <a:ext cx="1073833" cy="1073833"/>
          </a:xfrm>
          <a:prstGeom prst="rect">
            <a:avLst/>
          </a:prstGeom>
        </p:spPr>
      </p:pic>
      <p:pic>
        <p:nvPicPr>
          <p:cNvPr id="23" name="תמונה 22">
            <a:extLst>
              <a:ext uri="{FF2B5EF4-FFF2-40B4-BE49-F238E27FC236}">
                <a16:creationId xmlns:a16="http://schemas.microsoft.com/office/drawing/2014/main" id="{F6497211-51B5-799A-C93B-3B2BED963A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422" y="1914129"/>
            <a:ext cx="582480" cy="582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2901" y="977144"/>
            <a:ext cx="3835226" cy="4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Bibliography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472906" y="1528863"/>
            <a:ext cx="8198197" cy="500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[1]</a:t>
            </a:r>
            <a:r>
              <a:rPr lang="en-US" sz="13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S. K. Jampani, "Social Engineering 2.0 Deepfake and Deep Learning-Based Cyber-Attacks (Phishing)," </a:t>
            </a:r>
            <a:r>
              <a:rPr lang="en-US" sz="1300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Int. J. For Multidisciplinary Research</a:t>
            </a:r>
            <a:r>
              <a:rPr lang="en-US" sz="13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vol. 7, issue 1, Jan. 2025.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3319" y="2206844"/>
            <a:ext cx="8198197" cy="500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[2]</a:t>
            </a:r>
            <a:r>
              <a:rPr lang="en-US" sz="13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A. Benusi and G. Selgjekaj, "A Practical Analysis of Social Engineering Attacks and Deepfakes," </a:t>
            </a:r>
            <a:r>
              <a:rPr lang="en-US" sz="1300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CEUR Workshop Proceedings</a:t>
            </a:r>
            <a:r>
              <a:rPr lang="en-US" sz="13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2025.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3322" y="2899851"/>
            <a:ext cx="8198197" cy="500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[3]</a:t>
            </a:r>
            <a:r>
              <a:rPr lang="en-US" sz="13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F. Hernandez, "Deepfake Technology in Corporate Cybersecurity: Emerging Threats and Defense Mechanisms," </a:t>
            </a:r>
            <a:r>
              <a:rPr lang="en-US" sz="1300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ResearchGate</a:t>
            </a:r>
            <a:r>
              <a:rPr lang="en-US" sz="13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Dec. 2024.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3320" y="3588699"/>
            <a:ext cx="8198197" cy="500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[4]</a:t>
            </a:r>
            <a:r>
              <a:rPr lang="en-US" sz="13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M. Westerlund, "The Emergence of Deepfake Technology: A New Threat to Cybersecurity," </a:t>
            </a:r>
            <a:r>
              <a:rPr lang="en-US" sz="1300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Business Horizons</a:t>
            </a:r>
            <a:r>
              <a:rPr lang="en-US" sz="13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vol. 9, issue 11, pp. 39–52, Nov. 2019.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3324" y="4292573"/>
            <a:ext cx="8198197" cy="500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[5]</a:t>
            </a:r>
            <a:r>
              <a:rPr lang="en-US" sz="13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P. Yemmireddi and Dr. Madumitha K, "When AI Lies: Deepfake as a Threat to Cybersecurity and Digital Trust," </a:t>
            </a:r>
            <a:r>
              <a:rPr lang="en-US" sz="1300" i="1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Int. J. Sci. Technol.</a:t>
            </a:r>
            <a:r>
              <a:rPr lang="en-US" sz="1300" dirty="0">
                <a:solidFill>
                  <a:srgbClr val="3939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vol. 16, issue 4, 2025.</a:t>
            </a:r>
            <a:endParaRPr lang="en-US" sz="1300" dirty="0"/>
          </a:p>
        </p:txBody>
      </p:sp>
      <p:pic>
        <p:nvPicPr>
          <p:cNvPr id="10" name="תמונה 1">
            <a:extLst>
              <a:ext uri="{FF2B5EF4-FFF2-40B4-BE49-F238E27FC236}">
                <a16:creationId xmlns:a16="http://schemas.microsoft.com/office/drawing/2014/main" id="{17740595-8C18-3588-C351-8125AB6870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-141152"/>
            <a:ext cx="9139238" cy="988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CF3F48-1C0A-9985-C96F-691551FDB9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442210"/>
            <a:ext cx="2949178" cy="1352550"/>
          </a:xfrm>
        </p:spPr>
        <p:txBody>
          <a:bodyPr/>
          <a:lstStyle/>
          <a:p>
            <a:pPr algn="l" rtl="0"/>
            <a:r>
              <a:rPr lang="en-US" sz="1500" dirty="0">
                <a:solidFill>
                  <a:srgbClr val="3A3A3A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S. K. </a:t>
            </a:r>
            <a:r>
              <a:rPr lang="en-US" sz="1500" dirty="0" err="1">
                <a:solidFill>
                  <a:srgbClr val="3A3A3A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Jampani</a:t>
            </a:r>
            <a:r>
              <a:rPr lang="en-US" sz="1500" dirty="0">
                <a:solidFill>
                  <a:srgbClr val="3A3A3A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"Social Engineering 2.0 Deepfake and Deep Learning-Based Cyber-Attacks (Phishing)," Int. J. For Multidisciplinary Research, vol. 7, issue 1, Jan. 2025.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E27903-B82B-0792-E329-0E59329CE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" y="6059"/>
            <a:ext cx="9140220" cy="864183"/>
          </a:xfrm>
          <a:prstGeom prst="rect">
            <a:avLst/>
          </a:prstGeom>
        </p:spPr>
      </p:pic>
      <p:pic>
        <p:nvPicPr>
          <p:cNvPr id="11" name="מציין מיקום תוכן 10">
            <a:extLst>
              <a:ext uri="{FF2B5EF4-FFF2-40B4-BE49-F238E27FC236}">
                <a16:creationId xmlns:a16="http://schemas.microsoft.com/office/drawing/2014/main" id="{54277796-1535-FEBD-606C-B03FB4025C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/>
          <a:stretch/>
        </p:blipFill>
        <p:spPr>
          <a:xfrm>
            <a:off x="4232367" y="870241"/>
            <a:ext cx="4911634" cy="427325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58702746-58BD-4463-991E-9E091E3B998D}"/>
              </a:ext>
            </a:extLst>
          </p:cNvPr>
          <p:cNvSpPr/>
          <p:nvPr/>
        </p:nvSpPr>
        <p:spPr>
          <a:xfrm>
            <a:off x="681906" y="1243995"/>
            <a:ext cx="3835226" cy="1008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Oral Analysis</a:t>
            </a:r>
            <a:br>
              <a:rPr lang="en-US" sz="33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</a:br>
            <a:r>
              <a:rPr lang="en-US" sz="3300" b="1" dirty="0">
                <a:solidFill>
                  <a:srgbClr val="101014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Article</a:t>
            </a:r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val="880156752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TM02892315[[fn=קווים דקיקים]]</Template>
  <TotalTime>1357</TotalTime>
  <Words>670</Words>
  <Application>Microsoft Office PowerPoint</Application>
  <PresentationFormat>‫הצגה על המסך (16:9)</PresentationFormat>
  <Paragraphs>82</Paragraphs>
  <Slides>10</Slides>
  <Notes>9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6</vt:i4>
      </vt:variant>
      <vt:variant>
        <vt:lpstr>ערכת נושא</vt:lpstr>
      </vt:variant>
      <vt:variant>
        <vt:i4>3</vt:i4>
      </vt:variant>
      <vt:variant>
        <vt:lpstr>כותרות שקופיות</vt:lpstr>
      </vt:variant>
      <vt:variant>
        <vt:i4>10</vt:i4>
      </vt:variant>
    </vt:vector>
  </HeadingPairs>
  <TitlesOfParts>
    <vt:vector size="19" baseType="lpstr">
      <vt:lpstr>Playfair Display Bold</vt:lpstr>
      <vt:lpstr>Times New Roman</vt:lpstr>
      <vt:lpstr>Open Sans</vt:lpstr>
      <vt:lpstr>Calibri</vt:lpstr>
      <vt:lpstr>Wingdings 2</vt:lpstr>
      <vt:lpstr>Calibri Light</vt:lpstr>
      <vt:lpstr>HDOfficeLightV0</vt:lpstr>
      <vt:lpstr>1_HDOfficeLightV0</vt:lpstr>
      <vt:lpstr>2_HDOfficeLightV0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גיא שטרית</cp:lastModifiedBy>
  <cp:revision>261</cp:revision>
  <dcterms:created xsi:type="dcterms:W3CDTF">2026-05-17T08:15:23Z</dcterms:created>
  <dcterms:modified xsi:type="dcterms:W3CDTF">2026-05-29T00:59:32Z</dcterms:modified>
</cp:coreProperties>
</file>